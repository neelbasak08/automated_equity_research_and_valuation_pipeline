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48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RESEARCH  |  AUGUST 2026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96012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Automated Equity Research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Valuation Pipeline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27889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Python-first DCF and diagnostic engine  </a:t>
            </a:r>
            <a:pPr indent="0" marL="0">
              <a:buNone/>
            </a:pPr>
            <a:r>
              <a:rPr lang="en-US" sz="16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Case study: </a:t>
            </a:r>
            <a:pPr indent="0" marL="0">
              <a:buNone/>
            </a:pPr>
            <a:r>
              <a:rPr lang="en-US" sz="1600" b="1" dirty="0">
                <a:solidFill>
                  <a:srgbClr val="8EC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BORORENEW.NS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3337560"/>
            <a:ext cx="3200400" cy="0"/>
          </a:xfrm>
          <a:prstGeom prst="line">
            <a:avLst/>
          </a:prstGeom>
          <a:noFill/>
          <a:ln w="25400">
            <a:solidFill>
              <a:srgbClr val="2A9D8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3657600"/>
            <a:ext cx="182880" cy="18288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8" name="Text 6"/>
          <p:cNvSpPr/>
          <p:nvPr/>
        </p:nvSpPr>
        <p:spPr>
          <a:xfrm>
            <a:off x="1115568" y="3611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MOTIVATION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411480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0A2540"/>
          </a:solidFill>
          <a:ln w="9525">
            <a:solidFill>
              <a:srgbClr val="2A9D8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425196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8ECF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1051560" y="48006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Bridge two worlds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051560" y="521208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Sell-side research runs on spreadsheets. Data engineering runs on APIs. This project wires them together so a valuation refreshes on demand — not on a Sunday night.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26280" y="411480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0A2540"/>
          </a:solidFill>
          <a:ln w="9525">
            <a:solidFill>
              <a:srgbClr val="2A9D8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425196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8ECF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4754880" y="48006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Stress-test a real thesis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754880" y="521208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Borosil Renewables is India's only large-scale solar glass maker — policy-protected, margin-cyclical, capital-intensive. A perfect canvas for scenario analysis.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229600" y="411480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0A2540"/>
          </a:solidFill>
          <a:ln w="9525">
            <a:solidFill>
              <a:srgbClr val="2A9D8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58200" y="425196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8ECF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8458200" y="48006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Make the output defensible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458200" y="521208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assumption sits in one config block. Every scenario prints its own number. The verdict is the model's, not mine — I only have to defend the inputs.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BORORENEW.NS  |  Automated Equity Research Pipeline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EC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82880" cy="18288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REVIEW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Solar Glass Setup in India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 demand, commodity cost base — a policy-sensitive industrial story.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965960"/>
            <a:ext cx="27432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194560"/>
            <a:ext cx="109728" cy="109728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10312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500 GW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31520" y="26243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2030 renewable target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10128" y="1965960"/>
            <a:ext cx="27432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84448" y="2194560"/>
            <a:ext cx="109728" cy="109728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2" name="Text 10"/>
          <p:cNvSpPr/>
          <p:nvPr/>
        </p:nvSpPr>
        <p:spPr>
          <a:xfrm>
            <a:off x="3767328" y="210312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40–50 GW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584448" y="26243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solar capacity add implied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63056" y="1965960"/>
            <a:ext cx="27432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37376" y="2194560"/>
            <a:ext cx="109728" cy="109728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6" name="Text 14"/>
          <p:cNvSpPr/>
          <p:nvPr/>
        </p:nvSpPr>
        <p:spPr>
          <a:xfrm>
            <a:off x="6620256" y="210312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~5,500 t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437376" y="26243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glass required per GW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015984" y="1965960"/>
            <a:ext cx="27432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290304" y="2194560"/>
            <a:ext cx="109728" cy="109728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20" name="Text 18"/>
          <p:cNvSpPr/>
          <p:nvPr/>
        </p:nvSpPr>
        <p:spPr>
          <a:xfrm>
            <a:off x="9473184" y="210312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#1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9290304" y="26243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Domestic solar glass supplier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337560"/>
            <a:ext cx="5623560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85800" y="3566160"/>
            <a:ext cx="457200" cy="45720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" y="3538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1280160" y="3611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Moats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777240" y="4279392"/>
            <a:ext cx="73152" cy="73152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27" name="Text 25"/>
          <p:cNvSpPr/>
          <p:nvPr/>
        </p:nvSpPr>
        <p:spPr>
          <a:xfrm>
            <a:off x="960120" y="42062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ALMM regime.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Domestic content mandate forces module makers on govt-linked projects to buy Indian glass.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77240" y="4782312"/>
            <a:ext cx="73152" cy="73152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29" name="Text 27"/>
          <p:cNvSpPr/>
          <p:nvPr/>
        </p:nvSpPr>
        <p:spPr>
          <a:xfrm>
            <a:off x="960120" y="47091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Anti-dumping duties.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on Chinese &amp; Vietnamese glass caps the landed price ceiling for imports.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77240" y="5285232"/>
            <a:ext cx="73152" cy="73152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1" name="Text 29"/>
          <p:cNvSpPr/>
          <p:nvPr/>
        </p:nvSpPr>
        <p:spPr>
          <a:xfrm>
            <a:off x="960120" y="52120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Sole scaled domestic supplier.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Indian name on the vendor lists of Waaree, Vikram Solar, Premier Energies.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77240" y="5788152"/>
            <a:ext cx="73152" cy="73152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3" name="Text 31"/>
          <p:cNvSpPr/>
          <p:nvPr/>
        </p:nvSpPr>
        <p:spPr>
          <a:xfrm>
            <a:off x="960120" y="57150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moat.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SG-4 &amp; SG-5 furnace builds — new entrants face 18–24 month gestation.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263640" y="3337560"/>
            <a:ext cx="5623560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92240" y="3566160"/>
            <a:ext cx="457200" cy="457200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36" name="Text 34"/>
          <p:cNvSpPr/>
          <p:nvPr/>
        </p:nvSpPr>
        <p:spPr>
          <a:xfrm>
            <a:off x="6492240" y="3538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7086600" y="36118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Vulnerabilities</a:t>
            </a:r>
            <a:endParaRPr lang="en-US" sz="2000" dirty="0"/>
          </a:p>
        </p:txBody>
      </p:sp>
      <p:sp>
        <p:nvSpPr>
          <p:cNvPr id="38" name="Shape 36"/>
          <p:cNvSpPr/>
          <p:nvPr/>
        </p:nvSpPr>
        <p:spPr>
          <a:xfrm>
            <a:off x="6583680" y="4279392"/>
            <a:ext cx="73152" cy="73152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39" name="Text 37"/>
          <p:cNvSpPr/>
          <p:nvPr/>
        </p:nvSpPr>
        <p:spPr>
          <a:xfrm>
            <a:off x="6766560" y="42062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gas cost.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~35–40% of COGS. Furnaces run 24×7. Any Brent/APM spike compresses margin.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583680" y="4782312"/>
            <a:ext cx="73152" cy="73152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41" name="Text 39"/>
          <p:cNvSpPr/>
          <p:nvPr/>
        </p:nvSpPr>
        <p:spPr>
          <a:xfrm>
            <a:off x="6766560" y="47091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Cyclical spreads.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margin has swung between 6% and 30% over the last five years.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583680" y="5285232"/>
            <a:ext cx="73152" cy="73152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43" name="Text 41"/>
          <p:cNvSpPr/>
          <p:nvPr/>
        </p:nvSpPr>
        <p:spPr>
          <a:xfrm>
            <a:off x="6766560" y="52120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Circumvention risk.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Chinese exporters route through Vietnam/Malaysia; DGTR probes are ongoing.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583680" y="5788152"/>
            <a:ext cx="73152" cy="73152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45" name="Text 43"/>
          <p:cNvSpPr/>
          <p:nvPr/>
        </p:nvSpPr>
        <p:spPr>
          <a:xfrm>
            <a:off x="6766560" y="57150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Furnace ramp drag.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SG lines run fixed costs at full for 6–9 months before revenue catches up.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BORORENEW.NS  |  Automated Equity Research Pipeline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5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82880" cy="18288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PYTHON MODEL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Architecture &amp; Core Assumptions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yfinance API to a six-panel dashboard — one config block, three scenarios, one verdict.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2057400" cy="1417320"/>
          </a:xfrm>
          <a:prstGeom prst="roundRect">
            <a:avLst>
              <a:gd name="adj" fmla="val 5161"/>
            </a:avLst>
          </a:prstGeom>
          <a:solidFill>
            <a:srgbClr val="0A2540"/>
          </a:solidFill>
          <a:ln/>
        </p:spPr>
      </p:sp>
      <p:sp>
        <p:nvSpPr>
          <p:cNvPr id="7" name="Shape 5"/>
          <p:cNvSpPr/>
          <p:nvPr/>
        </p:nvSpPr>
        <p:spPr>
          <a:xfrm>
            <a:off x="594360" y="2148840"/>
            <a:ext cx="457200" cy="45720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2121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143000" y="219456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Ingest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40080" y="269748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EC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yfinance API →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EC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P&amp;L, BS, CF from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EC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audited filings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523744" y="2514600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2679192" y="2011680"/>
            <a:ext cx="2057400" cy="1417320"/>
          </a:xfrm>
          <a:prstGeom prst="roundRect">
            <a:avLst>
              <a:gd name="adj" fmla="val 5161"/>
            </a:avLst>
          </a:prstGeom>
          <a:solidFill>
            <a:srgbClr val="0A2540"/>
          </a:solidFill>
          <a:ln/>
        </p:spPr>
      </p:sp>
      <p:sp>
        <p:nvSpPr>
          <p:cNvPr id="13" name="Shape 11"/>
          <p:cNvSpPr/>
          <p:nvPr/>
        </p:nvSpPr>
        <p:spPr>
          <a:xfrm>
            <a:off x="2816352" y="2148840"/>
            <a:ext cx="457200" cy="45720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4" name="Text 12"/>
          <p:cNvSpPr/>
          <p:nvPr/>
        </p:nvSpPr>
        <p:spPr>
          <a:xfrm>
            <a:off x="2816352" y="2121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364992" y="219456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Diagnose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2862072" y="269748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EC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Trailing CAGR,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EC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trend,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EC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ROE vs CoE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745736" y="2514600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4901184" y="2011680"/>
            <a:ext cx="2057400" cy="1417320"/>
          </a:xfrm>
          <a:prstGeom prst="roundRect">
            <a:avLst>
              <a:gd name="adj" fmla="val 5161"/>
            </a:avLst>
          </a:prstGeom>
          <a:solidFill>
            <a:srgbClr val="0A2540"/>
          </a:solidFill>
          <a:ln/>
        </p:spPr>
      </p:sp>
      <p:sp>
        <p:nvSpPr>
          <p:cNvPr id="19" name="Shape 17"/>
          <p:cNvSpPr/>
          <p:nvPr/>
        </p:nvSpPr>
        <p:spPr>
          <a:xfrm>
            <a:off x="5038344" y="2148840"/>
            <a:ext cx="457200" cy="45720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20" name="Text 18"/>
          <p:cNvSpPr/>
          <p:nvPr/>
        </p:nvSpPr>
        <p:spPr>
          <a:xfrm>
            <a:off x="5038344" y="2121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586984" y="219456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5084064" y="269748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EC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5-yr FCF build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EC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capex, NWC,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EC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tax, dilution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967728" y="2514600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7123176" y="2011680"/>
            <a:ext cx="2057400" cy="1417320"/>
          </a:xfrm>
          <a:prstGeom prst="roundRect">
            <a:avLst>
              <a:gd name="adj" fmla="val 5161"/>
            </a:avLst>
          </a:prstGeom>
          <a:solidFill>
            <a:srgbClr val="0A2540"/>
          </a:solidFill>
          <a:ln/>
        </p:spPr>
      </p:sp>
      <p:sp>
        <p:nvSpPr>
          <p:cNvPr id="25" name="Shape 23"/>
          <p:cNvSpPr/>
          <p:nvPr/>
        </p:nvSpPr>
        <p:spPr>
          <a:xfrm>
            <a:off x="7260336" y="2148840"/>
            <a:ext cx="457200" cy="45720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26" name="Text 24"/>
          <p:cNvSpPr/>
          <p:nvPr/>
        </p:nvSpPr>
        <p:spPr>
          <a:xfrm>
            <a:off x="7260336" y="2121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7808976" y="219456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Discount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7306056" y="269748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EC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3-scenario DCF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EC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WACC × g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EC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 grid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9189720" y="2514600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9345168" y="2011680"/>
            <a:ext cx="2057400" cy="1417320"/>
          </a:xfrm>
          <a:prstGeom prst="roundRect">
            <a:avLst>
              <a:gd name="adj" fmla="val 5161"/>
            </a:avLst>
          </a:prstGeom>
          <a:solidFill>
            <a:srgbClr val="0A2540"/>
          </a:solidFill>
          <a:ln/>
        </p:spPr>
      </p:sp>
      <p:sp>
        <p:nvSpPr>
          <p:cNvPr id="31" name="Shape 29"/>
          <p:cNvSpPr/>
          <p:nvPr/>
        </p:nvSpPr>
        <p:spPr>
          <a:xfrm>
            <a:off x="9482328" y="2148840"/>
            <a:ext cx="457200" cy="45720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32" name="Text 30"/>
          <p:cNvSpPr/>
          <p:nvPr/>
        </p:nvSpPr>
        <p:spPr>
          <a:xfrm>
            <a:off x="9482328" y="2121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10030968" y="219456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Compare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9528048" y="269748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EC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multiples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EC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(P/E, EV/EBITDA)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EC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cross-check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57200" y="3794760"/>
            <a:ext cx="585216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5800" y="3931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Base-Case Assumptions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85800" y="4343400"/>
            <a:ext cx="5486400" cy="256032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38" name="Text 36"/>
          <p:cNvSpPr/>
          <p:nvPr/>
        </p:nvSpPr>
        <p:spPr>
          <a:xfrm>
            <a:off x="777240" y="434340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3246120" y="43434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4160520" y="434340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Rationale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85800" y="4599432"/>
            <a:ext cx="5486400" cy="25603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2" name="Text 40"/>
          <p:cNvSpPr/>
          <p:nvPr/>
        </p:nvSpPr>
        <p:spPr>
          <a:xfrm>
            <a:off x="777240" y="459943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growth (CAGR)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3246120" y="459943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18.0%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4160520" y="459943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Domestic solar scaling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777240" y="485546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margin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3246120" y="485546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22.0%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4160520" y="4855464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Post-ADD normalization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685800" y="5111496"/>
            <a:ext cx="5486400" cy="25603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9" name="Text 47"/>
          <p:cNvSpPr/>
          <p:nvPr/>
        </p:nvSpPr>
        <p:spPr>
          <a:xfrm>
            <a:off x="777240" y="511149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WACC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3246120" y="511149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11.0%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4160520" y="5111496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 small-cap premium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777240" y="536752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growth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3246120" y="53675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5.0%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4160520" y="536752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India nominal GDP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685800" y="5623560"/>
            <a:ext cx="5486400" cy="25603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6" name="Text 54"/>
          <p:cNvSpPr/>
          <p:nvPr/>
        </p:nvSpPr>
        <p:spPr>
          <a:xfrm>
            <a:off x="777240" y="562356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 rate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3246120" y="56235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25.2%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4160520" y="562356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115BAA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777240" y="587959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Capex / revenue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3246120" y="587959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12.0%</a:t>
            </a:r>
            <a:endParaRPr lang="en-US" sz="1050" dirty="0"/>
          </a:p>
        </p:txBody>
      </p:sp>
      <p:sp>
        <p:nvSpPr>
          <p:cNvPr id="61" name="Text 59"/>
          <p:cNvSpPr/>
          <p:nvPr/>
        </p:nvSpPr>
        <p:spPr>
          <a:xfrm>
            <a:off x="4160520" y="587959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SG-4 &amp; SG-5 furnace build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685800" y="6135624"/>
            <a:ext cx="5486400" cy="25603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3" name="Text 61"/>
          <p:cNvSpPr/>
          <p:nvPr/>
        </p:nvSpPr>
        <p:spPr>
          <a:xfrm>
            <a:off x="777240" y="613562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NWC / revenue</a:t>
            </a:r>
            <a:endParaRPr lang="en-US" sz="1050" dirty="0"/>
          </a:p>
        </p:txBody>
      </p:sp>
      <p:sp>
        <p:nvSpPr>
          <p:cNvPr id="64" name="Text 62"/>
          <p:cNvSpPr/>
          <p:nvPr/>
        </p:nvSpPr>
        <p:spPr>
          <a:xfrm>
            <a:off x="3246120" y="613562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14.0%</a:t>
            </a:r>
            <a:endParaRPr lang="en-US" sz="1050" dirty="0"/>
          </a:p>
        </p:txBody>
      </p:sp>
      <p:sp>
        <p:nvSpPr>
          <p:cNvPr id="65" name="Text 63"/>
          <p:cNvSpPr/>
          <p:nvPr/>
        </p:nvSpPr>
        <p:spPr>
          <a:xfrm>
            <a:off x="4160520" y="6135624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60–90 day receivables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6446520" y="3794760"/>
            <a:ext cx="525780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675120" y="39319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Stress-Test Framework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6675120" y="4434840"/>
            <a:ext cx="1554480" cy="1737360"/>
          </a:xfrm>
          <a:prstGeom prst="roundRect">
            <a:avLst>
              <a:gd name="adj" fmla="val 3529"/>
            </a:avLst>
          </a:prstGeom>
          <a:solidFill>
            <a:srgbClr val="E76F51"/>
          </a:solidFill>
          <a:ln/>
        </p:spPr>
      </p:sp>
      <p:sp>
        <p:nvSpPr>
          <p:cNvPr id="69" name="Text 67"/>
          <p:cNvSpPr/>
          <p:nvPr/>
        </p:nvSpPr>
        <p:spPr>
          <a:xfrm>
            <a:off x="6675120" y="45720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4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BEAR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6766560" y="50292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6% growth</a:t>
            </a:r>
            <a:endParaRPr lang="en-US" sz="1100" dirty="0"/>
          </a:p>
        </p:txBody>
      </p:sp>
      <p:sp>
        <p:nvSpPr>
          <p:cNvPr id="71" name="Text 69"/>
          <p:cNvSpPr/>
          <p:nvPr/>
        </p:nvSpPr>
        <p:spPr>
          <a:xfrm>
            <a:off x="6766560" y="53035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9% margin</a:t>
            </a:r>
            <a:endParaRPr lang="en-US" sz="1100" dirty="0"/>
          </a:p>
        </p:txBody>
      </p:sp>
      <p:sp>
        <p:nvSpPr>
          <p:cNvPr id="72" name="Text 70"/>
          <p:cNvSpPr/>
          <p:nvPr/>
        </p:nvSpPr>
        <p:spPr>
          <a:xfrm>
            <a:off x="6766560" y="56692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i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China circumvention, gas spike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8321040" y="4434840"/>
            <a:ext cx="1554480" cy="1737360"/>
          </a:xfrm>
          <a:prstGeom prst="roundRect">
            <a:avLst>
              <a:gd name="adj" fmla="val 3529"/>
            </a:avLst>
          </a:prstGeom>
          <a:solidFill>
            <a:srgbClr val="0A2540"/>
          </a:solidFill>
          <a:ln/>
        </p:spPr>
      </p:sp>
      <p:sp>
        <p:nvSpPr>
          <p:cNvPr id="74" name="Text 72"/>
          <p:cNvSpPr/>
          <p:nvPr/>
        </p:nvSpPr>
        <p:spPr>
          <a:xfrm>
            <a:off x="8321040" y="45720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4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</a:t>
            </a:r>
            <a:endParaRPr lang="en-US" sz="1600" dirty="0"/>
          </a:p>
        </p:txBody>
      </p:sp>
      <p:sp>
        <p:nvSpPr>
          <p:cNvPr id="75" name="Text 73"/>
          <p:cNvSpPr/>
          <p:nvPr/>
        </p:nvSpPr>
        <p:spPr>
          <a:xfrm>
            <a:off x="8412480" y="50292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18% growth</a:t>
            </a:r>
            <a:endParaRPr lang="en-US" sz="1100" dirty="0"/>
          </a:p>
        </p:txBody>
      </p:sp>
      <p:sp>
        <p:nvSpPr>
          <p:cNvPr id="76" name="Text 74"/>
          <p:cNvSpPr/>
          <p:nvPr/>
        </p:nvSpPr>
        <p:spPr>
          <a:xfrm>
            <a:off x="8412480" y="53035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 margin</a:t>
            </a:r>
            <a:endParaRPr lang="en-US" sz="1100" dirty="0"/>
          </a:p>
        </p:txBody>
      </p:sp>
      <p:sp>
        <p:nvSpPr>
          <p:cNvPr id="77" name="Text 75"/>
          <p:cNvSpPr/>
          <p:nvPr/>
        </p:nvSpPr>
        <p:spPr>
          <a:xfrm>
            <a:off x="8412480" y="56692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i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ALMM holds, mid-cycle normal</a:t>
            </a:r>
            <a:endParaRPr lang="en-US" sz="950" dirty="0"/>
          </a:p>
        </p:txBody>
      </p:sp>
      <p:sp>
        <p:nvSpPr>
          <p:cNvPr id="78" name="Shape 76"/>
          <p:cNvSpPr/>
          <p:nvPr/>
        </p:nvSpPr>
        <p:spPr>
          <a:xfrm>
            <a:off x="9966960" y="4434840"/>
            <a:ext cx="1554480" cy="1737360"/>
          </a:xfrm>
          <a:prstGeom prst="roundRect">
            <a:avLst>
              <a:gd name="adj" fmla="val 3529"/>
            </a:avLst>
          </a:prstGeom>
          <a:solidFill>
            <a:srgbClr val="2A9D8F"/>
          </a:solidFill>
          <a:ln/>
        </p:spPr>
      </p:sp>
      <p:sp>
        <p:nvSpPr>
          <p:cNvPr id="79" name="Text 77"/>
          <p:cNvSpPr/>
          <p:nvPr/>
        </p:nvSpPr>
        <p:spPr>
          <a:xfrm>
            <a:off x="9966960" y="45720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4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BULL</a:t>
            </a:r>
            <a:endParaRPr lang="en-US" sz="1600" dirty="0"/>
          </a:p>
        </p:txBody>
      </p:sp>
      <p:sp>
        <p:nvSpPr>
          <p:cNvPr id="80" name="Text 78"/>
          <p:cNvSpPr/>
          <p:nvPr/>
        </p:nvSpPr>
        <p:spPr>
          <a:xfrm>
            <a:off x="10058400" y="50292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28% growth</a:t>
            </a:r>
            <a:endParaRPr lang="en-US" sz="1100" dirty="0"/>
          </a:p>
        </p:txBody>
      </p:sp>
      <p:sp>
        <p:nvSpPr>
          <p:cNvPr id="81" name="Text 79"/>
          <p:cNvSpPr/>
          <p:nvPr/>
        </p:nvSpPr>
        <p:spPr>
          <a:xfrm>
            <a:off x="10058400" y="53035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32% margin</a:t>
            </a:r>
            <a:endParaRPr lang="en-US" sz="1100" dirty="0"/>
          </a:p>
        </p:txBody>
      </p:sp>
      <p:sp>
        <p:nvSpPr>
          <p:cNvPr id="82" name="Text 80"/>
          <p:cNvSpPr/>
          <p:nvPr/>
        </p:nvSpPr>
        <p:spPr>
          <a:xfrm>
            <a:off x="10058400" y="56692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i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extended, captive power</a:t>
            </a:r>
            <a:endParaRPr lang="en-US" sz="950" dirty="0"/>
          </a:p>
        </p:txBody>
      </p:sp>
      <p:sp>
        <p:nvSpPr>
          <p:cNvPr id="83" name="Text 81"/>
          <p:cNvSpPr/>
          <p:nvPr/>
        </p:nvSpPr>
        <p:spPr>
          <a:xfrm>
            <a:off x="6675120" y="59436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 heatmap sweeps WACC (9–14%) × terminal growth (3–6%).</a:t>
            </a:r>
            <a:endParaRPr lang="en-US" sz="1050" dirty="0"/>
          </a:p>
        </p:txBody>
      </p:sp>
      <p:sp>
        <p:nvSpPr>
          <p:cNvPr id="84" name="Text 8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BORORENEW.NS  |  Automated Equity Research Pipeline</a:t>
            </a:r>
            <a:endParaRPr lang="en-US" sz="1000" dirty="0"/>
          </a:p>
        </p:txBody>
      </p:sp>
      <p:sp>
        <p:nvSpPr>
          <p:cNvPr id="85" name="Text 83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5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82880" cy="18288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VERDICT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Model Says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EC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scenarios, one diagnostic dashboard, one uncomfortable conclusion.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965960"/>
            <a:ext cx="5303520" cy="1005840"/>
          </a:xfrm>
          <a:prstGeom prst="roundRect">
            <a:avLst>
              <a:gd name="adj" fmla="val 7273"/>
            </a:avLst>
          </a:prstGeom>
          <a:solidFill>
            <a:srgbClr val="0A2540"/>
          </a:solidFill>
          <a:ln w="19050">
            <a:solidFill>
              <a:srgbClr val="E76F5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331720"/>
            <a:ext cx="228600" cy="22860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21031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 CASE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43000" y="24231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Circumvention + gas shock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0" y="210312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₹65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4937760" y="21031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-88%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108960"/>
            <a:ext cx="5303520" cy="1005840"/>
          </a:xfrm>
          <a:prstGeom prst="roundRect">
            <a:avLst>
              <a:gd name="adj" fmla="val 7273"/>
            </a:avLst>
          </a:prstGeom>
          <a:solidFill>
            <a:srgbClr val="0A2540"/>
          </a:solidFill>
          <a:ln w="19050">
            <a:solidFill>
              <a:srgbClr val="0A254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" y="3474720"/>
            <a:ext cx="228600" cy="22860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" y="32461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CASE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143000" y="35661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Model's core intrinsic value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0" y="324612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₹371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4937760" y="32461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-33%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4251960"/>
            <a:ext cx="5303520" cy="1005840"/>
          </a:xfrm>
          <a:prstGeom prst="roundRect">
            <a:avLst>
              <a:gd name="adj" fmla="val 7273"/>
            </a:avLst>
          </a:prstGeom>
          <a:solidFill>
            <a:srgbClr val="0A2540"/>
          </a:solidFill>
          <a:ln w="19050">
            <a:solidFill>
              <a:srgbClr val="2A9D8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1520" y="4617720"/>
            <a:ext cx="228600" cy="22860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20" name="Text 18"/>
          <p:cNvSpPr/>
          <p:nvPr/>
        </p:nvSpPr>
        <p:spPr>
          <a:xfrm>
            <a:off x="1143000" y="43891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 CASE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143000" y="47091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policy protection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657600" y="438912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₹853</a:t>
            </a:r>
            <a:endParaRPr lang="en-US" sz="3400" dirty="0"/>
          </a:p>
        </p:txBody>
      </p:sp>
      <p:sp>
        <p:nvSpPr>
          <p:cNvPr id="23" name="Text 21"/>
          <p:cNvSpPr/>
          <p:nvPr/>
        </p:nvSpPr>
        <p:spPr>
          <a:xfrm>
            <a:off x="4937760" y="43891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+54%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57200" y="5486400"/>
            <a:ext cx="5303520" cy="1005840"/>
          </a:xfrm>
          <a:prstGeom prst="roundRect">
            <a:avLst>
              <a:gd name="adj" fmla="val 7273"/>
            </a:avLst>
          </a:prstGeom>
          <a:solidFill>
            <a:srgbClr val="E76F51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55778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31520" y="58064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UNDERPERFORM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3840480" y="55778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CMP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840480" y="58064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₹555.70</a:t>
            </a:r>
            <a:endParaRPr lang="en-US" sz="2600" dirty="0"/>
          </a:p>
        </p:txBody>
      </p:sp>
      <p:sp>
        <p:nvSpPr>
          <p:cNvPr id="29" name="Shape 27"/>
          <p:cNvSpPr/>
          <p:nvPr/>
        </p:nvSpPr>
        <p:spPr>
          <a:xfrm>
            <a:off x="5989320" y="1965960"/>
            <a:ext cx="5760720" cy="2148840"/>
          </a:xfrm>
          <a:prstGeom prst="roundRect">
            <a:avLst>
              <a:gd name="adj" fmla="val 3404"/>
            </a:avLst>
          </a:prstGeom>
          <a:solidFill>
            <a:srgbClr val="0A2540"/>
          </a:solidFill>
          <a:ln w="9525">
            <a:solidFill>
              <a:srgbClr val="2A9D8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63640" y="20574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Diagnostic Dashboard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6263640" y="2560320"/>
            <a:ext cx="164592" cy="164592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32" name="Text 30"/>
          <p:cNvSpPr/>
          <p:nvPr/>
        </p:nvSpPr>
        <p:spPr>
          <a:xfrm>
            <a:off x="6537960" y="246888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growth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8183880" y="246888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20.2% CAGR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9738360" y="246888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tailwinds intact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263640" y="2944368"/>
            <a:ext cx="164592" cy="164592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36" name="Text 34"/>
          <p:cNvSpPr/>
          <p:nvPr/>
        </p:nvSpPr>
        <p:spPr>
          <a:xfrm>
            <a:off x="6537960" y="285292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margin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8183880" y="285292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22.9%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9738360" y="285292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Vulnerable to raw material swings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263640" y="3328416"/>
            <a:ext cx="164592" cy="164592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40" name="Text 38"/>
          <p:cNvSpPr/>
          <p:nvPr/>
        </p:nvSpPr>
        <p:spPr>
          <a:xfrm>
            <a:off x="6537960" y="3236976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on Equity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8183880" y="3236976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11.0%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9738360" y="323697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cost of equity — value destruction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263640" y="3712464"/>
            <a:ext cx="164592" cy="164592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44" name="Text 42"/>
          <p:cNvSpPr/>
          <p:nvPr/>
        </p:nvSpPr>
        <p:spPr>
          <a:xfrm>
            <a:off x="6537960" y="362102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sheet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8183880" y="3621024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₹493 Cr net cash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9738360" y="362102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funds SG-4 &amp; SG-5 capex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989320" y="4206240"/>
            <a:ext cx="5760720" cy="2103120"/>
          </a:xfrm>
          <a:prstGeom prst="roundRect">
            <a:avLst>
              <a:gd name="adj" fmla="val 3478"/>
            </a:avLst>
          </a:prstGeom>
          <a:solidFill>
            <a:srgbClr val="E9C46A"/>
          </a:solidFill>
          <a:ln/>
        </p:spPr>
      </p:sp>
      <p:sp>
        <p:nvSpPr>
          <p:cNvPr id="48" name="Text 46"/>
          <p:cNvSpPr/>
          <p:nvPr/>
        </p:nvSpPr>
        <p:spPr>
          <a:xfrm>
            <a:off x="6263640" y="42976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Interpretation</a:t>
            </a:r>
            <a:endParaRPr lang="en-US" sz="1500" dirty="0"/>
          </a:p>
        </p:txBody>
      </p:sp>
      <p:sp>
        <p:nvSpPr>
          <p:cNvPr id="49" name="Text 47"/>
          <p:cNvSpPr/>
          <p:nvPr/>
        </p:nvSpPr>
        <p:spPr>
          <a:xfrm>
            <a:off x="6263640" y="4617720"/>
            <a:ext cx="5212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06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 is pricing a near-bull outcome. 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6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₹555, price sits ~65% of the way from base to bull — implying investors already believe ALMM holds and margins normalize to ~28%. My base case is more conservative on both.
</a:t>
            </a:r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06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most important line is ROE &lt; CoE. 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6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company is currently earning below its cost of equity. It is growing, but not creating shareholder value — until furnace utilization normalizes post-ramp.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BORORENEW.NS  |  Automated Equity Research Pipeline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EC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5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82880" cy="18288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OF IMPROVEMENT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I'd Build Next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model has a next version. These are the six edits that would matter most.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965960"/>
            <a:ext cx="370332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240280"/>
            <a:ext cx="502920" cy="50292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240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371600" y="224028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Bottom-up WACC build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31520" y="288036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11% is likely too low. A build-up from India 10Y G-Sec + Damodaran ERP + size premium prints ~13%. Would deepen the underperform call.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97680" y="1965960"/>
            <a:ext cx="370332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2240280"/>
            <a:ext cx="502920" cy="50292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0" y="2240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212080" y="224028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Monte Carlo over inputs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72000" y="288036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three fixed scenarios with a distribution over growth, margin, and WACC. Report a fair value range, not a point estimate.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138160" y="1965960"/>
            <a:ext cx="370332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0" y="2240280"/>
            <a:ext cx="502920" cy="50292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18" name="Text 16"/>
          <p:cNvSpPr/>
          <p:nvPr/>
        </p:nvSpPr>
        <p:spPr>
          <a:xfrm>
            <a:off x="8412480" y="2240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052560" y="224028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Multi-source data QA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412480" y="288036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yfinance has coverage gaps for Indian small-caps (INSOLATION returned NaN). Cross-check against Screener.in, Tijori, and MCA-21 filings.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4251960"/>
            <a:ext cx="370332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1520" y="4526280"/>
            <a:ext cx="502920" cy="50292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4526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371600" y="452628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Taper terminal capex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31520" y="516636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runs 12% capex intensity through year 5 and terminal. Steady-state maintenance capex is 5–6%; the flat run understates terminal FCF.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297680" y="4251960"/>
            <a:ext cx="370332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0" y="4526280"/>
            <a:ext cx="502920" cy="50292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0" y="4526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5212080" y="452628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Relative valuation triangulation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4572000" y="516636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Overlay an EV/EBITDA target using peer median (WEBELSOLAR, Chinese majors as reference) to sanity-check the DCF intrinsic value.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138160" y="4251960"/>
            <a:ext cx="370332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412480" y="4526280"/>
            <a:ext cx="502920" cy="50292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33" name="Text 31"/>
          <p:cNvSpPr/>
          <p:nvPr/>
        </p:nvSpPr>
        <p:spPr>
          <a:xfrm>
            <a:off x="8412480" y="4526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9052560" y="452628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Reverse-DCF module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8412480" y="516636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for the growth and margin combination the current price implies. Turns 'what is it worth' into 'what does the market believe' — a cleaner debate.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57200" y="6309360"/>
            <a:ext cx="11247120" cy="502920"/>
          </a:xfrm>
          <a:prstGeom prst="roundRect">
            <a:avLst>
              <a:gd name="adj" fmla="val 10909"/>
            </a:avLst>
          </a:prstGeom>
          <a:solidFill>
            <a:srgbClr val="0A2540"/>
          </a:solidFill>
          <a:ln/>
        </p:spPr>
      </p:sp>
      <p:sp>
        <p:nvSpPr>
          <p:cNvPr id="37" name="Text 35"/>
          <p:cNvSpPr/>
          <p:nvPr/>
        </p:nvSpPr>
        <p:spPr>
          <a:xfrm>
            <a:off x="640080" y="63093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 Python.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study: BORORENEW.NS.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portable to any listed equity. </a:t>
            </a:r>
            <a:pPr indent="0" marL="0">
              <a:buNone/>
            </a:pPr>
            <a:r>
              <a:rPr lang="en-US" sz="1200" b="1" dirty="0">
                <a:solidFill>
                  <a:srgbClr val="8EC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 love your feedback →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BORORENEW.NS Equity Research</dc:title>
  <dc:subject>PptxGenJS Presentation</dc:subject>
  <dc:creator>Automated Equity Research Pipeline</dc:creator>
  <cp:lastModifiedBy>Automated Equity Research Pipeline</cp:lastModifiedBy>
  <cp:revision>1</cp:revision>
  <dcterms:created xsi:type="dcterms:W3CDTF">2026-07-31T19:12:39Z</dcterms:created>
  <dcterms:modified xsi:type="dcterms:W3CDTF">2026-07-31T19:12:39Z</dcterms:modified>
</cp:coreProperties>
</file>